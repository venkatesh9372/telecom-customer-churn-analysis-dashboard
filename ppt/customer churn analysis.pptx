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16"/>
  </p:notesMasterIdLst>
  <p:sldIdLst>
    <p:sldId id="261" r:id="rId2"/>
    <p:sldId id="276" r:id="rId3"/>
    <p:sldId id="264" r:id="rId4"/>
    <p:sldId id="263" r:id="rId5"/>
    <p:sldId id="266" r:id="rId6"/>
    <p:sldId id="267" r:id="rId7"/>
    <p:sldId id="268" r:id="rId8"/>
    <p:sldId id="269" r:id="rId9"/>
    <p:sldId id="270" r:id="rId10"/>
    <p:sldId id="272" r:id="rId11"/>
    <p:sldId id="271" r:id="rId12"/>
    <p:sldId id="274" r:id="rId13"/>
    <p:sldId id="275" r:id="rId14"/>
    <p:sldId id="27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1F26"/>
    <a:srgbClr val="C42F32"/>
    <a:srgbClr val="000000"/>
    <a:srgbClr val="99E3F0"/>
    <a:srgbClr val="94232B"/>
    <a:srgbClr val="C04F15"/>
    <a:srgbClr val="085B82"/>
    <a:srgbClr val="F6FA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67D8AE-5064-4F40-B70E-D152CBB32696}" v="87" dt="2025-10-14T13:13:46.8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5" d="100"/>
          <a:sy n="85" d="100"/>
        </p:scale>
        <p:origin x="36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639D72-5786-4153-AF5A-AECF6BFD6AC7}" type="datetimeFigureOut">
              <a:t>12/4/2025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41D1B0-C27E-4950-BAAF-1FD160912BC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457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182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718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201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388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533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983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155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827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74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82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199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525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powerbi.com/groups/me/reports/9f673dfe-3824-4a05-b385-cc95358f5e3d/f98b8c81cc411e57520c?experience=power-bi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E58822E-A752-EB2D-BE71-4CF08ADD4E8C}"/>
              </a:ext>
            </a:extLst>
          </p:cNvPr>
          <p:cNvSpPr txBox="1"/>
          <p:nvPr/>
        </p:nvSpPr>
        <p:spPr>
          <a:xfrm>
            <a:off x="1952620" y="3575236"/>
            <a:ext cx="8902581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b="1" dirty="0">
                <a:solidFill>
                  <a:srgbClr val="E01F26"/>
                </a:solidFill>
                <a:latin typeface="Arial Black" panose="020B0A04020102020204" pitchFamily="34" charset="0"/>
              </a:rPr>
              <a:t>TELECOM CUSTOMER CHURN ANALYSIS</a:t>
            </a:r>
            <a:endParaRPr lang="en-US" sz="2800" dirty="0">
              <a:solidFill>
                <a:srgbClr val="E01F26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CA9D75-D734-533B-880B-C4AB20C69057}"/>
              </a:ext>
            </a:extLst>
          </p:cNvPr>
          <p:cNvSpPr txBox="1"/>
          <p:nvPr/>
        </p:nvSpPr>
        <p:spPr>
          <a:xfrm>
            <a:off x="8072173" y="6252364"/>
            <a:ext cx="4119827" cy="3693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Libre Baskerville"/>
              </a:rPr>
              <a:t>By: Venkatesh V.  Karnure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DA05F4-EA70-9891-1019-329E7F3AC5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4151" y="236304"/>
            <a:ext cx="7373379" cy="24292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D59180B-3CAF-F4BA-E738-82DF08A219FD}"/>
              </a:ext>
            </a:extLst>
          </p:cNvPr>
          <p:cNvSpPr txBox="1"/>
          <p:nvPr/>
        </p:nvSpPr>
        <p:spPr>
          <a:xfrm>
            <a:off x="5467739" y="2882655"/>
            <a:ext cx="28257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E01F26"/>
                </a:solidFill>
                <a:latin typeface="Arial Black" panose="020B0A04020102020204" pitchFamily="34" charset="0"/>
              </a:rPr>
              <a:t>Project On</a:t>
            </a:r>
            <a:endParaRPr lang="en-IN" sz="1400" dirty="0"/>
          </a:p>
        </p:txBody>
      </p:sp>
      <p:pic>
        <p:nvPicPr>
          <p:cNvPr id="1026" name="Picture 2" descr="Telecom Icon">
            <a:extLst>
              <a:ext uri="{FF2B5EF4-FFF2-40B4-BE49-F238E27FC236}">
                <a16:creationId xmlns:a16="http://schemas.microsoft.com/office/drawing/2014/main" id="{6996C66F-71DA-C7E6-CDFC-53247D0D2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6233" y="4302099"/>
            <a:ext cx="2429213" cy="242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8304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407DF-E734-D923-FF71-D5680048B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886" y="240013"/>
            <a:ext cx="10515600" cy="775417"/>
          </a:xfrm>
        </p:spPr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AC4C7-BF14-E425-A80C-4720F8CCF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2626" y="1345814"/>
            <a:ext cx="7551174" cy="43195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0000"/>
                </a:solidFill>
              </a:rPr>
              <a:t>01</a:t>
            </a:r>
            <a:r>
              <a:rPr lang="en-US" dirty="0"/>
              <a:t>     Color Palette</a:t>
            </a:r>
          </a:p>
          <a:p>
            <a:pPr marL="0" indent="0">
              <a:buNone/>
            </a:pPr>
            <a:r>
              <a:rPr lang="en-US" sz="4000" b="1" dirty="0">
                <a:solidFill>
                  <a:srgbClr val="FF0000"/>
                </a:solidFill>
              </a:rPr>
              <a:t>02</a:t>
            </a:r>
            <a:r>
              <a:rPr lang="en-US" dirty="0"/>
              <a:t>     Business Objective  </a:t>
            </a:r>
          </a:p>
          <a:p>
            <a:pPr marL="0" indent="0">
              <a:buNone/>
            </a:pPr>
            <a:r>
              <a:rPr lang="en-US" sz="4000" b="1" dirty="0">
                <a:solidFill>
                  <a:srgbClr val="FF0000"/>
                </a:solidFill>
              </a:rPr>
              <a:t>03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dirty="0"/>
              <a:t>    Data Preparation</a:t>
            </a:r>
          </a:p>
          <a:p>
            <a:pPr marL="0" indent="0">
              <a:buNone/>
            </a:pPr>
            <a:r>
              <a:rPr lang="en-US" sz="4000" b="1" dirty="0">
                <a:solidFill>
                  <a:srgbClr val="FF0000"/>
                </a:solidFill>
              </a:rPr>
              <a:t>04</a:t>
            </a:r>
            <a:r>
              <a:rPr lang="en-US" dirty="0"/>
              <a:t>     Important Visuals</a:t>
            </a:r>
          </a:p>
          <a:p>
            <a:pPr marL="0" indent="0">
              <a:buNone/>
            </a:pPr>
            <a:r>
              <a:rPr lang="en-US" sz="4000" b="1" dirty="0">
                <a:solidFill>
                  <a:srgbClr val="FF0000"/>
                </a:solidFill>
              </a:rPr>
              <a:t>05</a:t>
            </a:r>
            <a:r>
              <a:rPr lang="en-US" dirty="0"/>
              <a:t>     Dashboard</a:t>
            </a:r>
          </a:p>
          <a:p>
            <a:pPr marL="0" indent="0">
              <a:buNone/>
            </a:pPr>
            <a:r>
              <a:rPr lang="en-US" sz="4000" b="1" dirty="0">
                <a:solidFill>
                  <a:srgbClr val="FF0000"/>
                </a:solidFill>
              </a:rPr>
              <a:t>06</a:t>
            </a:r>
            <a:r>
              <a:rPr lang="en-US" dirty="0"/>
              <a:t>     Conclusion</a:t>
            </a:r>
          </a:p>
          <a:p>
            <a:pPr marL="0" indent="0">
              <a:buNone/>
            </a:pPr>
            <a:endParaRPr lang="en-IN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777A380-A9E7-5AA3-0ABC-E6915BA631E4}"/>
              </a:ext>
            </a:extLst>
          </p:cNvPr>
          <p:cNvCxnSpPr/>
          <p:nvPr/>
        </p:nvCxnSpPr>
        <p:spPr>
          <a:xfrm>
            <a:off x="3028603" y="1944881"/>
            <a:ext cx="5040000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C6DA62-C28E-723A-C49A-1C437D963169}"/>
              </a:ext>
            </a:extLst>
          </p:cNvPr>
          <p:cNvCxnSpPr/>
          <p:nvPr/>
        </p:nvCxnSpPr>
        <p:spPr>
          <a:xfrm>
            <a:off x="3028603" y="2605649"/>
            <a:ext cx="5040000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63C1F46-5147-795C-1A8F-07F65304E67F}"/>
              </a:ext>
            </a:extLst>
          </p:cNvPr>
          <p:cNvCxnSpPr/>
          <p:nvPr/>
        </p:nvCxnSpPr>
        <p:spPr>
          <a:xfrm>
            <a:off x="3184848" y="4705690"/>
            <a:ext cx="5040000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2BF2F92-0AD7-CB6B-721A-DCA7D35067E8}"/>
              </a:ext>
            </a:extLst>
          </p:cNvPr>
          <p:cNvCxnSpPr/>
          <p:nvPr/>
        </p:nvCxnSpPr>
        <p:spPr>
          <a:xfrm>
            <a:off x="3119534" y="4020390"/>
            <a:ext cx="5040000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CD251B-B9AA-CC0E-598F-3537410B507A}"/>
              </a:ext>
            </a:extLst>
          </p:cNvPr>
          <p:cNvCxnSpPr/>
          <p:nvPr/>
        </p:nvCxnSpPr>
        <p:spPr>
          <a:xfrm>
            <a:off x="3119534" y="3314390"/>
            <a:ext cx="5040000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682C9FE-39D1-1F3E-C3A4-D1B830F97AB6}"/>
              </a:ext>
            </a:extLst>
          </p:cNvPr>
          <p:cNvCxnSpPr>
            <a:cxnSpLocks/>
          </p:cNvCxnSpPr>
          <p:nvPr/>
        </p:nvCxnSpPr>
        <p:spPr>
          <a:xfrm>
            <a:off x="3184848" y="5383763"/>
            <a:ext cx="5156719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FA92D0F-85FF-176A-6FA5-B8F9DCE4CA9D}"/>
              </a:ext>
            </a:extLst>
          </p:cNvPr>
          <p:cNvSpPr txBox="1"/>
          <p:nvPr/>
        </p:nvSpPr>
        <p:spPr>
          <a:xfrm>
            <a:off x="3802626" y="5439256"/>
            <a:ext cx="46373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07 </a:t>
            </a:r>
            <a:r>
              <a:rPr lang="en-US" dirty="0"/>
              <a:t> </a:t>
            </a:r>
            <a:r>
              <a:rPr lang="en-US" sz="2800" dirty="0"/>
              <a:t>RECOMMENDATIONS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2442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2C96A6-471F-0AFD-7CBF-C4084BE7ECCF}"/>
              </a:ext>
            </a:extLst>
          </p:cNvPr>
          <p:cNvSpPr txBox="1"/>
          <p:nvPr/>
        </p:nvSpPr>
        <p:spPr>
          <a:xfrm>
            <a:off x="938598" y="544767"/>
            <a:ext cx="1031480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dirty="0">
                <a:solidFill>
                  <a:srgbClr val="E01F26"/>
                </a:solidFill>
                <a:latin typeface="Arial Black" panose="020B0A04020102020204" pitchFamily="34" charset="0"/>
              </a:rPr>
              <a:t> COLOR THEORY AND COLOR PALETTE  </a:t>
            </a:r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01884690-B03E-9821-BE5C-4952008B2A0B}"/>
              </a:ext>
            </a:extLst>
          </p:cNvPr>
          <p:cNvSpPr/>
          <p:nvPr/>
        </p:nvSpPr>
        <p:spPr>
          <a:xfrm>
            <a:off x="2121499" y="3426339"/>
            <a:ext cx="428625" cy="428625"/>
          </a:xfrm>
          <a:prstGeom prst="flowChartConnector">
            <a:avLst/>
          </a:prstGeom>
          <a:solidFill>
            <a:srgbClr val="C42F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1A2FC70F-8C68-51CB-7356-AF588322691B}"/>
              </a:ext>
            </a:extLst>
          </p:cNvPr>
          <p:cNvSpPr/>
          <p:nvPr/>
        </p:nvSpPr>
        <p:spPr>
          <a:xfrm>
            <a:off x="2137289" y="4076441"/>
            <a:ext cx="428625" cy="428625"/>
          </a:xfrm>
          <a:prstGeom prst="flowChartConnector">
            <a:avLst/>
          </a:prstGeom>
          <a:solidFill>
            <a:srgbClr val="C42F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DD2E8948-792A-D8D2-BD95-BDB958538705}"/>
              </a:ext>
            </a:extLst>
          </p:cNvPr>
          <p:cNvSpPr/>
          <p:nvPr/>
        </p:nvSpPr>
        <p:spPr>
          <a:xfrm>
            <a:off x="2123901" y="2814678"/>
            <a:ext cx="428625" cy="428625"/>
          </a:xfrm>
          <a:prstGeom prst="flowChartConnec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95ED4804-7BB0-F461-A820-4C5CCF69AB6F}"/>
              </a:ext>
            </a:extLst>
          </p:cNvPr>
          <p:cNvSpPr/>
          <p:nvPr/>
        </p:nvSpPr>
        <p:spPr>
          <a:xfrm>
            <a:off x="2124244" y="1494565"/>
            <a:ext cx="428625" cy="428625"/>
          </a:xfrm>
          <a:prstGeom prst="flowChartConnector">
            <a:avLst/>
          </a:prstGeom>
          <a:solidFill>
            <a:srgbClr val="C04F15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01241125-909F-380E-150C-B6FBA58E140B}"/>
              </a:ext>
            </a:extLst>
          </p:cNvPr>
          <p:cNvSpPr/>
          <p:nvPr/>
        </p:nvSpPr>
        <p:spPr>
          <a:xfrm>
            <a:off x="2137288" y="2140549"/>
            <a:ext cx="428625" cy="428625"/>
          </a:xfrm>
          <a:prstGeom prst="flowChartConnector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70C645BF-7719-3F81-562F-751FC1E37A5C}"/>
              </a:ext>
            </a:extLst>
          </p:cNvPr>
          <p:cNvSpPr/>
          <p:nvPr/>
        </p:nvSpPr>
        <p:spPr>
          <a:xfrm>
            <a:off x="2137289" y="3427711"/>
            <a:ext cx="428625" cy="428625"/>
          </a:xfrm>
          <a:prstGeom prst="flowChartConnector">
            <a:avLst/>
          </a:prstGeom>
          <a:solidFill>
            <a:srgbClr val="9423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679184C7-BAFE-023F-C233-7A380F1B00C1}"/>
              </a:ext>
            </a:extLst>
          </p:cNvPr>
          <p:cNvSpPr/>
          <p:nvPr/>
        </p:nvSpPr>
        <p:spPr>
          <a:xfrm>
            <a:off x="2116694" y="4653089"/>
            <a:ext cx="428625" cy="428625"/>
          </a:xfrm>
          <a:prstGeom prst="flowChartConnector">
            <a:avLst/>
          </a:prstGeom>
          <a:solidFill>
            <a:srgbClr val="99E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8B9893-01DA-0944-3C00-33770268744D}"/>
              </a:ext>
            </a:extLst>
          </p:cNvPr>
          <p:cNvSpPr txBox="1"/>
          <p:nvPr/>
        </p:nvSpPr>
        <p:spPr>
          <a:xfrm>
            <a:off x="1503405" y="1297459"/>
            <a:ext cx="8258432" cy="39004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Wingdings,Sans-Serif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 Color Represents The Male Ratio​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,Sans-Serif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 Color Represents The Female Ratio​</a:t>
            </a:r>
          </a:p>
          <a:p>
            <a:pPr marL="457200" indent="-457200">
              <a:lnSpc>
                <a:spcPct val="150000"/>
              </a:lnSpc>
              <a:buFont typeface="Wingdings,Sans-Serif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 Color Represents The Graphs​</a:t>
            </a:r>
          </a:p>
          <a:p>
            <a:pPr marL="457200" indent="-457200">
              <a:lnSpc>
                <a:spcPct val="150000"/>
              </a:lnSpc>
              <a:buFont typeface="Wingdings,Sans-Serif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 Color Represents The Graphs​</a:t>
            </a:r>
          </a:p>
          <a:p>
            <a:pPr marL="457200" indent="-457200">
              <a:lnSpc>
                <a:spcPct val="150000"/>
              </a:lnSpc>
              <a:buFont typeface="Wingdings,Sans-Serif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 Color Represents the Graphs​</a:t>
            </a:r>
          </a:p>
          <a:p>
            <a:pPr marL="457200" indent="-457200">
              <a:lnSpc>
                <a:spcPct val="150000"/>
              </a:lnSpc>
              <a:buFont typeface="Wingdings,Sans-Serif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 Color Represents the Graphs​</a:t>
            </a:r>
          </a:p>
        </p:txBody>
      </p:sp>
    </p:spTree>
    <p:extLst>
      <p:ext uri="{BB962C8B-B14F-4D97-AF65-F5344CB8AC3E}">
        <p14:creationId xmlns:p14="http://schemas.microsoft.com/office/powerpoint/2010/main" val="3124483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E17C38-2D89-4898-68B5-3E8A8DFAF63B}"/>
              </a:ext>
            </a:extLst>
          </p:cNvPr>
          <p:cNvSpPr txBox="1"/>
          <p:nvPr/>
        </p:nvSpPr>
        <p:spPr>
          <a:xfrm>
            <a:off x="3270249" y="317499"/>
            <a:ext cx="55880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E01F26"/>
                </a:solidFill>
                <a:latin typeface="Arial Black" panose="020B0A04020102020204" pitchFamily="34" charset="0"/>
              </a:rPr>
              <a:t>BUSINESS OBJECTIVE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3117DF9-6F16-3B3C-4D3E-0EF03453D7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695" y="1160850"/>
            <a:ext cx="10789107" cy="3780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Churn Among High-Risk Segments: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Prioritize retention efforts for fiber optic users with the highest churn rate (41.2%).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Promote Long-Term Contracts for Stability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Shift customers from month-to-month plans to 1–2 year contracts to reduce churn volatility.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Incentivize Low-Churn Payment Methods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Encourage automatic payments (bank transfer, credit card) to improve retention and billing consistency.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Strengthen Support &amp; Security Features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Enhance tech support and online security offerings to increase satisfaction and reduce churn.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9688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CFD88-70A6-B8A4-5C05-E24000372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75CFC1-E504-A075-2F3C-E57A47CD8966}"/>
              </a:ext>
            </a:extLst>
          </p:cNvPr>
          <p:cNvSpPr txBox="1"/>
          <p:nvPr/>
        </p:nvSpPr>
        <p:spPr>
          <a:xfrm>
            <a:off x="3973898" y="478824"/>
            <a:ext cx="424420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/>
              <a:t>   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460428-C22B-5E98-9900-B3F52FA056E7}"/>
              </a:ext>
            </a:extLst>
          </p:cNvPr>
          <p:cNvSpPr txBox="1"/>
          <p:nvPr/>
        </p:nvSpPr>
        <p:spPr>
          <a:xfrm>
            <a:off x="936624" y="1079500"/>
            <a:ext cx="9969500" cy="29190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endParaRPr lang="en-US" sz="2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/>
              <a:buChar char="Ø"/>
            </a:pPr>
            <a:r>
              <a:rPr lang="en-US" sz="24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Steps Taken</a:t>
            </a:r>
          </a:p>
          <a:p>
            <a:pPr marL="742950" lvl="1" indent="-285750" algn="just">
              <a:lnSpc>
                <a:spcPct val="150000"/>
              </a:lnSpc>
              <a:buFont typeface="Courier New"/>
              <a:buChar char="o"/>
            </a:pPr>
            <a:r>
              <a:rPr lang="en-US" sz="2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Imported the dataset into Power BI.</a:t>
            </a:r>
          </a:p>
          <a:p>
            <a:pPr marL="742950" lvl="1" indent="-285750" algn="just">
              <a:lnSpc>
                <a:spcPct val="150000"/>
              </a:lnSpc>
              <a:buFont typeface="Courier New"/>
              <a:buChar char="o"/>
            </a:pPr>
            <a:r>
              <a:rPr lang="en-US" sz="2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Removed duplicates and handled missing values (mainly in Total Charges).</a:t>
            </a:r>
          </a:p>
          <a:p>
            <a:pPr marL="742950" lvl="1" indent="-285750" algn="just">
              <a:lnSpc>
                <a:spcPct val="150000"/>
              </a:lnSpc>
              <a:buFont typeface="Courier New"/>
              <a:buChar char="o"/>
            </a:pPr>
            <a:r>
              <a:rPr lang="en-US" sz="2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Converted data types – e.g., Senior Citizen (0/1 → Yes/No). 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861365-02E8-D9E0-F1A8-6F2D690C0B52}"/>
              </a:ext>
            </a:extLst>
          </p:cNvPr>
          <p:cNvSpPr txBox="1"/>
          <p:nvPr/>
        </p:nvSpPr>
        <p:spPr>
          <a:xfrm>
            <a:off x="3825447" y="223108"/>
            <a:ext cx="454711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E01F26"/>
                </a:solidFill>
                <a:latin typeface="Arial Black" panose="020B0A04020102020204" pitchFamily="34" charset="0"/>
              </a:rPr>
              <a:t>DATA PREPARATION</a:t>
            </a:r>
          </a:p>
        </p:txBody>
      </p:sp>
    </p:spTree>
    <p:extLst>
      <p:ext uri="{BB962C8B-B14F-4D97-AF65-F5344CB8AC3E}">
        <p14:creationId xmlns:p14="http://schemas.microsoft.com/office/powerpoint/2010/main" val="3457649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8870F-94F8-3B41-F54E-FAF68ADD8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862A48-1B91-4E0A-BB11-FBB286501EA3}"/>
              </a:ext>
            </a:extLst>
          </p:cNvPr>
          <p:cNvSpPr txBox="1"/>
          <p:nvPr/>
        </p:nvSpPr>
        <p:spPr>
          <a:xfrm>
            <a:off x="3973898" y="478824"/>
            <a:ext cx="424420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/>
              <a:t>   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AA5232-FE75-E07E-ED96-3F95E0E0D394}"/>
              </a:ext>
            </a:extLst>
          </p:cNvPr>
          <p:cNvSpPr txBox="1"/>
          <p:nvPr/>
        </p:nvSpPr>
        <p:spPr>
          <a:xfrm>
            <a:off x="4368628" y="215814"/>
            <a:ext cx="295575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E01F26"/>
                </a:solidFill>
                <a:latin typeface="Arial Black" panose="020B0A04020102020204" pitchFamily="34" charset="0"/>
              </a:rPr>
              <a:t>KEY VISUALS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B5579D-D3C9-F8FE-297F-728B2D48B17F}"/>
              </a:ext>
            </a:extLst>
          </p:cNvPr>
          <p:cNvSpPr txBox="1"/>
          <p:nvPr/>
        </p:nvSpPr>
        <p:spPr>
          <a:xfrm>
            <a:off x="158750" y="3638549"/>
            <a:ext cx="57658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Ø"/>
            </a:pPr>
            <a:r>
              <a:rPr lang="en-US" sz="2000" dirty="0"/>
              <a:t>Fiber optic users churn the most indicating a critical service dissatisfaction zone.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A4D59B-E6C3-77F4-C017-E38360ACFBF1}"/>
              </a:ext>
            </a:extLst>
          </p:cNvPr>
          <p:cNvSpPr txBox="1"/>
          <p:nvPr/>
        </p:nvSpPr>
        <p:spPr>
          <a:xfrm>
            <a:off x="5962649" y="3635374"/>
            <a:ext cx="622617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US" sz="2000" dirty="0"/>
              <a:t>Lack of online security and tech support leaves both genders equally vulnerable to churn.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utoShape 2" descr="Image">
            <a:extLst>
              <a:ext uri="{FF2B5EF4-FFF2-40B4-BE49-F238E27FC236}">
                <a16:creationId xmlns:a16="http://schemas.microsoft.com/office/drawing/2014/main" id="{5635B9F1-A427-A6CE-7260-340EE97959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EAE1C3-9889-A958-4EAC-65993ECB1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739" y="866775"/>
            <a:ext cx="3162300" cy="24098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FEC4F78-1DCE-C8B9-8019-E544FF9CB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382" y="746126"/>
            <a:ext cx="3524250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29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5D861-8476-B8B0-0998-C7A88E959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2D6E46-2F26-71B8-C7F6-D2FB95659F98}"/>
              </a:ext>
            </a:extLst>
          </p:cNvPr>
          <p:cNvSpPr txBox="1"/>
          <p:nvPr/>
        </p:nvSpPr>
        <p:spPr>
          <a:xfrm>
            <a:off x="3973898" y="478824"/>
            <a:ext cx="424420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/>
              <a:t>   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7ECD2D-82E6-BBC9-4DCE-63058E923B4F}"/>
              </a:ext>
            </a:extLst>
          </p:cNvPr>
          <p:cNvSpPr txBox="1"/>
          <p:nvPr/>
        </p:nvSpPr>
        <p:spPr>
          <a:xfrm>
            <a:off x="269875" y="3937000"/>
            <a:ext cx="5715000" cy="8788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n-US" dirty="0"/>
              <a:t>Month‑to‑month contracts drive the highest churn, while long‑term plans anchor retention.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ACA89C-C5DE-136E-B6C6-C34F5CC501CF}"/>
              </a:ext>
            </a:extLst>
          </p:cNvPr>
          <p:cNvSpPr txBox="1"/>
          <p:nvPr/>
        </p:nvSpPr>
        <p:spPr>
          <a:xfrm>
            <a:off x="6517952" y="4169564"/>
            <a:ext cx="549275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Electronic check users churn more, whereas auto‑payment methods foster loyalty.”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98C9C2-5A8E-DDEC-3288-06D2F21A4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665" y="712722"/>
            <a:ext cx="3305175" cy="23907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C4C289-8683-1AF9-129E-F7B1D8AF1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6001" y="598422"/>
            <a:ext cx="3162300" cy="250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854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25B07-8833-60AE-11B3-24143C5DA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A55F71-F63A-2B2A-9562-D331D88BED5B}"/>
              </a:ext>
            </a:extLst>
          </p:cNvPr>
          <p:cNvSpPr txBox="1"/>
          <p:nvPr/>
        </p:nvSpPr>
        <p:spPr>
          <a:xfrm>
            <a:off x="3973898" y="478824"/>
            <a:ext cx="424420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/>
              <a:t>   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9969B5-300B-4F48-DE2F-23DB5C798329}"/>
              </a:ext>
            </a:extLst>
          </p:cNvPr>
          <p:cNvSpPr txBox="1"/>
          <p:nvPr/>
        </p:nvSpPr>
        <p:spPr>
          <a:xfrm>
            <a:off x="238124" y="3603624"/>
            <a:ext cx="5794375" cy="8788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“Electronic check users pay the most, linking higher charges to higher churn risk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550FDA-AF52-D099-BF45-EBDB369662AC}"/>
              </a:ext>
            </a:extLst>
          </p:cNvPr>
          <p:cNvSpPr txBox="1"/>
          <p:nvPr/>
        </p:nvSpPr>
        <p:spPr>
          <a:xfrm>
            <a:off x="6778624" y="3556000"/>
            <a:ext cx="5127625" cy="8788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n-US" dirty="0"/>
              <a:t>Male and female customers are nearly equal, showing gender has little impact on churn.”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2F8147-811F-745E-750D-F2D29DB1F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711" y="724673"/>
            <a:ext cx="3505200" cy="2486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B5C1CD-C7EC-7FAA-CE1B-77C60FDA6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2711" y="604352"/>
            <a:ext cx="3219450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952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6A8D6-EAA1-A90D-DF02-7FEDB5DE5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E3C30B-FBE9-6239-1EAE-AFFB6F44A4A3}"/>
              </a:ext>
            </a:extLst>
          </p:cNvPr>
          <p:cNvSpPr txBox="1"/>
          <p:nvPr/>
        </p:nvSpPr>
        <p:spPr>
          <a:xfrm>
            <a:off x="3973898" y="478824"/>
            <a:ext cx="424420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/>
              <a:t>   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EFD831-0102-63F7-C612-D45B625E2CF6}"/>
              </a:ext>
            </a:extLst>
          </p:cNvPr>
          <p:cNvSpPr txBox="1"/>
          <p:nvPr/>
        </p:nvSpPr>
        <p:spPr>
          <a:xfrm>
            <a:off x="1304925" y="3428999"/>
            <a:ext cx="9588500" cy="12890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n-US" dirty="0"/>
              <a:t>“Non‑seniors dominate the base, but seniors—though fewer—show higher churn risk.”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n-US" dirty="0"/>
              <a:t>Tailored offers and simplified support can improve satisfaction and reduce senior churn.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9C51F9-3695-3EEE-F4F5-10B1ABF9D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6311" y="477937"/>
            <a:ext cx="2295525" cy="25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08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06EC0-4AA4-8FBC-DA19-30C68EB41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FB6706-A2F5-9406-356F-B583660E8F13}"/>
              </a:ext>
            </a:extLst>
          </p:cNvPr>
          <p:cNvSpPr txBox="1"/>
          <p:nvPr/>
        </p:nvSpPr>
        <p:spPr>
          <a:xfrm>
            <a:off x="3973898" y="478824"/>
            <a:ext cx="424420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/>
              <a:t>   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92B71A-8548-1CD4-1644-3843471608B8}"/>
              </a:ext>
            </a:extLst>
          </p:cNvPr>
          <p:cNvSpPr txBox="1"/>
          <p:nvPr/>
        </p:nvSpPr>
        <p:spPr>
          <a:xfrm>
            <a:off x="4572428" y="2575"/>
            <a:ext cx="303298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 b="1" dirty="0">
                <a:solidFill>
                  <a:srgbClr val="E01F26"/>
                </a:solidFill>
                <a:latin typeface="Arial Black" panose="020B0A04020102020204" pitchFamily="34" charset="0"/>
              </a:rPr>
              <a:t>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FCFCEC-D8FE-56F0-E83C-0175699EF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160" y="519745"/>
            <a:ext cx="11295678" cy="623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102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54A46-9899-F7B3-458C-1480A29FD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AD72AB-E9B8-27DC-A5B6-181D56F9E5E3}"/>
              </a:ext>
            </a:extLst>
          </p:cNvPr>
          <p:cNvSpPr txBox="1"/>
          <p:nvPr/>
        </p:nvSpPr>
        <p:spPr>
          <a:xfrm>
            <a:off x="3973898" y="478824"/>
            <a:ext cx="424420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/>
              <a:t>   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1C4C4B-F1B4-6098-08DD-7643BD4FF0EF}"/>
              </a:ext>
            </a:extLst>
          </p:cNvPr>
          <p:cNvSpPr txBox="1"/>
          <p:nvPr/>
        </p:nvSpPr>
        <p:spPr>
          <a:xfrm>
            <a:off x="3208466" y="218388"/>
            <a:ext cx="57785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E01F26"/>
                </a:solidFill>
                <a:latin typeface="Arial Black" panose="020B0A04020102020204" pitchFamily="34" charset="0"/>
              </a:rPr>
              <a:t>LINK TO THE DASHBOARD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0095E9-77F0-40D4-B35C-F9D519D2B527}"/>
              </a:ext>
            </a:extLst>
          </p:cNvPr>
          <p:cNvSpPr txBox="1"/>
          <p:nvPr/>
        </p:nvSpPr>
        <p:spPr>
          <a:xfrm>
            <a:off x="3702422" y="326226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 Black" panose="020B0A040201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For Dashboard</a:t>
            </a:r>
            <a:endParaRPr lang="en-IN" sz="32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5601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126E4-1786-6ECB-7D2A-EB1090128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C8F6C6-EA8A-2851-9653-4CF2CA54E25E}"/>
              </a:ext>
            </a:extLst>
          </p:cNvPr>
          <p:cNvSpPr txBox="1"/>
          <p:nvPr/>
        </p:nvSpPr>
        <p:spPr>
          <a:xfrm>
            <a:off x="3973898" y="478824"/>
            <a:ext cx="424420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/>
              <a:t>   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C1DDAB-9C0A-3D6B-ABA0-C8A6EFC94F10}"/>
              </a:ext>
            </a:extLst>
          </p:cNvPr>
          <p:cNvSpPr txBox="1"/>
          <p:nvPr/>
        </p:nvSpPr>
        <p:spPr>
          <a:xfrm>
            <a:off x="4698805" y="309547"/>
            <a:ext cx="301761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 b="1" dirty="0">
                <a:solidFill>
                  <a:srgbClr val="E01F26"/>
                </a:solidFill>
                <a:latin typeface="Arial Black" panose="020B0A04020102020204" pitchFamily="34" charset="0"/>
              </a:rPr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F1F74C-7472-D34B-B6E5-F08E5F07F599}"/>
              </a:ext>
            </a:extLst>
          </p:cNvPr>
          <p:cNvSpPr txBox="1"/>
          <p:nvPr/>
        </p:nvSpPr>
        <p:spPr>
          <a:xfrm>
            <a:off x="755780" y="1448320"/>
            <a:ext cx="11193623" cy="295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Internet Service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Fiber Optic users churn the most; DSL is moderate; no internet = lowest churn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Services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Lack of Online Security &amp; Tech Support increases churn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Contract Type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Month-to-month contracts lead to higher churn; long-term contracts retain customers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Payment Method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Electronic Check users churn more; auto-pay users stay longer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Monthly Charges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Higher charges correlate with higher churn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Gender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No major impact on churn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Billing Type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Paperless billing users churn more than traditional billing users</a:t>
            </a:r>
          </a:p>
        </p:txBody>
      </p:sp>
    </p:spTree>
    <p:extLst>
      <p:ext uri="{BB962C8B-B14F-4D97-AF65-F5344CB8AC3E}">
        <p14:creationId xmlns:p14="http://schemas.microsoft.com/office/powerpoint/2010/main" val="1008385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EC6B0A-E2A8-F48C-D448-2369AC2DFAB1}"/>
              </a:ext>
            </a:extLst>
          </p:cNvPr>
          <p:cNvSpPr txBox="1"/>
          <p:nvPr/>
        </p:nvSpPr>
        <p:spPr>
          <a:xfrm>
            <a:off x="1978091" y="417157"/>
            <a:ext cx="84815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E01F26"/>
                </a:solidFill>
                <a:latin typeface="Arial Black" panose="020B0A04020102020204" pitchFamily="34" charset="0"/>
              </a:rPr>
              <a:t>RECOMMENDATIONS TO REDUCE CHURN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096D86-1087-045D-C434-B2E8413CE1F0}"/>
              </a:ext>
            </a:extLst>
          </p:cNvPr>
          <p:cNvSpPr txBox="1"/>
          <p:nvPr/>
        </p:nvSpPr>
        <p:spPr>
          <a:xfrm>
            <a:off x="466531" y="1536368"/>
            <a:ext cx="10506269" cy="295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Fiber Optic Users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loyalty offers or service upgrades.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Online Security &amp; Tech Support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bundled benefits.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Long-Term Contracts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discounts or perks.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Incentivize Auto-Pay Options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reduce churn from manual payments.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Pricing Strategy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high-charge segments like Electronic Check users.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Senior Citizens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tailored plans and easy assistance.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Educate Customers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benefits of traditional billing or offer hybrid options.</a:t>
            </a:r>
          </a:p>
        </p:txBody>
      </p:sp>
    </p:spTree>
    <p:extLst>
      <p:ext uri="{BB962C8B-B14F-4D97-AF65-F5344CB8AC3E}">
        <p14:creationId xmlns:p14="http://schemas.microsoft.com/office/powerpoint/2010/main" val="1169954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166AD-AC40-9AB0-685A-1960D8379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6BC523-7632-9B59-3DCB-1F2921BC28E6}"/>
              </a:ext>
            </a:extLst>
          </p:cNvPr>
          <p:cNvSpPr txBox="1"/>
          <p:nvPr/>
        </p:nvSpPr>
        <p:spPr>
          <a:xfrm>
            <a:off x="3973898" y="478824"/>
            <a:ext cx="424420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/>
              <a:t>   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3A627B-5058-20BB-A90A-D46DDD809B8C}"/>
              </a:ext>
            </a:extLst>
          </p:cNvPr>
          <p:cNvSpPr txBox="1"/>
          <p:nvPr/>
        </p:nvSpPr>
        <p:spPr>
          <a:xfrm>
            <a:off x="3295136" y="2269267"/>
            <a:ext cx="7635874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7200" dirty="0">
                <a:solidFill>
                  <a:schemeClr val="accent4">
                    <a:lumMod val="49000"/>
                  </a:schemeClr>
                </a:solidFill>
                <a:latin typeface="Bookman Old Style"/>
              </a:rPr>
              <a:t>THANK</a:t>
            </a:r>
          </a:p>
          <a:p>
            <a:r>
              <a:rPr lang="en-US" sz="7200" dirty="0">
                <a:solidFill>
                  <a:schemeClr val="accent4">
                    <a:lumMod val="49000"/>
                  </a:schemeClr>
                </a:solidFill>
                <a:latin typeface="Bookman Old Style"/>
              </a:rPr>
              <a:t>   YOU....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DEF955-1DEC-D77E-DE95-072C6F029E96}"/>
              </a:ext>
            </a:extLst>
          </p:cNvPr>
          <p:cNvSpPr txBox="1"/>
          <p:nvPr/>
        </p:nvSpPr>
        <p:spPr>
          <a:xfrm>
            <a:off x="1492250" y="984250"/>
            <a:ext cx="53975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ANY QUESTIONS..???</a:t>
            </a:r>
          </a:p>
        </p:txBody>
      </p:sp>
    </p:spTree>
    <p:extLst>
      <p:ext uri="{BB962C8B-B14F-4D97-AF65-F5344CB8AC3E}">
        <p14:creationId xmlns:p14="http://schemas.microsoft.com/office/powerpoint/2010/main" val="2479644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2013 - 2022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385</TotalTime>
  <Words>584</Words>
  <Application>Microsoft Office PowerPoint</Application>
  <PresentationFormat>Widescreen</PresentationFormat>
  <Paragraphs>73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Arial</vt:lpstr>
      <vt:lpstr>Arial Black</vt:lpstr>
      <vt:lpstr>Bookman Old Style</vt:lpstr>
      <vt:lpstr>Calibri</vt:lpstr>
      <vt:lpstr>Calibri Light</vt:lpstr>
      <vt:lpstr>Courier New</vt:lpstr>
      <vt:lpstr>Libre Baskerville</vt:lpstr>
      <vt:lpstr>Times New Roman</vt:lpstr>
      <vt:lpstr>Wingdings</vt:lpstr>
      <vt:lpstr>Wingdings,Sans-Serif</vt:lpstr>
      <vt:lpstr>Office 2013 - 2022 Theme</vt:lpstr>
      <vt:lpstr>PowerPoint Presentation</vt:lpstr>
      <vt:lpstr>Contents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Venkatesh</dc:creator>
  <cp:lastModifiedBy>venkatesh karnure</cp:lastModifiedBy>
  <cp:revision>630</cp:revision>
  <dcterms:created xsi:type="dcterms:W3CDTF">2013-07-15T20:26:40Z</dcterms:created>
  <dcterms:modified xsi:type="dcterms:W3CDTF">2025-12-04T11:54:13Z</dcterms:modified>
</cp:coreProperties>
</file>